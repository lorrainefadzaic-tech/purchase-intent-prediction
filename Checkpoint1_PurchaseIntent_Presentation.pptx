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Purchase Intent Prediction — Checkpoint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Mining (CSE 511)</a:t>
            </a:r>
          </a:p>
          <a:p>
            <a:r>
              <a:t>Thunderbird School of Global Management</a:t>
            </a:r>
          </a:p>
          <a:p>
            <a:r>
              <a:t>Presented by Hazel T. Chikara</a:t>
            </a:r>
          </a:p>
          <a:p>
            <a:r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Pitch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 purchase intent (Result=1).</a:t>
            </a:r>
          </a:p>
          <a:p>
            <a:pPr lvl="1"/>
            <a:r>
              <a:t>Business goal: prioritize high-probability leads; improve conversion ROI.</a:t>
            </a:r>
          </a:p>
          <a:p>
            <a:pPr lvl="1"/>
            <a:r>
              <a:t>Task: Binary classification; preliminary numeric-only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Rows: 177,086; Columns (excl. target): 25</a:t>
            </a:r>
          </a:p>
          <a:p>
            <a:pPr lvl="1"/>
            <a:r>
              <a:t>Features: dates, numeric (e.g., Estimated Win Rate, Price), categorical (Country, Product, Competitor)</a:t>
            </a:r>
          </a:p>
          <a:p>
            <a:pPr lvl="1"/>
            <a:r>
              <a:t>Engineered: Journey_Duration, Start/End year/month</a:t>
            </a:r>
          </a:p>
          <a:p>
            <a:pPr lvl="1"/>
            <a:r>
              <a:t>Target: Result (1=Purchase, 0=No Purchase)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Distribution (Counts)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101,421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75,665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Top-10 Missingness (Full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4069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9916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Missing Ratio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Techincal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94.15%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13.57%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Estimated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5.96%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Marketing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0.00%</a:t>
                      </a:r>
                    </a:p>
                  </a:txBody>
                  <a:tcPr/>
                </a:tc>
              </a:tr>
              <a:tr h="369916">
                <a:tc>
                  <a:txBody>
                    <a:bodyPr/>
                    <a:lstStyle/>
                    <a:p>
                      <a:r>
                        <a:t>End_Year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0.00%</a:t>
                      </a:r>
                    </a:p>
                  </a:txBody>
                  <a:tcPr/>
                </a:tc>
              </a:tr>
              <a:tr h="369919">
                <a:tc>
                  <a:txBody>
                    <a:bodyPr/>
                    <a:lstStyle/>
                    <a:p>
                      <a:r>
                        <a:t>Start_Month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Data Mining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Impute (median for numeric, mode planned for categoricals)</a:t>
            </a:r>
          </a:p>
          <a:p>
            <a:pPr lvl="1"/>
            <a:r>
              <a:t>Feature engineering (duration &amp; date parts)</a:t>
            </a:r>
          </a:p>
          <a:p>
            <a:pPr lvl="1"/>
            <a:r>
              <a:t>Baseline model: Logistic Regression (numeric-only)</a:t>
            </a:r>
          </a:p>
          <a:p>
            <a:pPr lvl="1"/>
            <a:r>
              <a:t>Validation: 80/20 stratified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— Logistic Regression (Numeric-only, 1.2k 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1479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79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0.775</a:t>
                      </a:r>
                    </a:p>
                  </a:txBody>
                  <a:tcPr/>
                </a:tc>
              </a:tr>
              <a:tr h="411479"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0.7207</a:t>
                      </a:r>
                    </a:p>
                  </a:txBody>
                  <a:tcPr/>
                </a:tc>
              </a:tr>
              <a:tr h="411479"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0.7767</a:t>
                      </a:r>
                    </a:p>
                  </a:txBody>
                  <a:tcPr/>
                </a:tc>
              </a:tr>
              <a:tr h="411479"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0.7477</a:t>
                      </a:r>
                    </a:p>
                  </a:txBody>
                  <a:tcPr/>
                </a:tc>
              </a:tr>
              <a:tr h="411484">
                <a:tc>
                  <a:txBody>
                    <a:bodyPr/>
                    <a:lstStyle/>
                    <a:p>
                      <a: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 (CP1 → CP2)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Include categorical features via One-Hot/target/frequency encoding</a:t>
            </a:r>
          </a:p>
          <a:p>
            <a:pPr lvl="1"/>
            <a:r>
              <a:t>Compare RF/GB/XGBoost; hyperparameter tuning</a:t>
            </a:r>
          </a:p>
          <a:p>
            <a:pPr lvl="1"/>
            <a:r>
              <a:t>Handle class imbalance (class weights/SMOTE)</a:t>
            </a:r>
          </a:p>
          <a:p>
            <a:pPr lvl="1"/>
            <a:r>
              <a:t>Use SHAP for interpretability; consider deployment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